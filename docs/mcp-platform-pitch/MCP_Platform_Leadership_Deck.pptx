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(~30s). Warm, confident open — do not read the slide. Try: "Thank you for the time. In the next ~12 minutes I'll show you a low-risk way to put ONS at the front of the shift to AI agents — safely, and starting with public data." Set the expectation: a small first step, with a clear decision at the end. Eye contact, slow down, smile.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WHOLE PITCH IN ONE SLIDE (~1m). If they remember one thing, make it this. Plain-English definition: "MCP is a secure, governed front door so approved AI agents can reach our trusted data — with every request logged." Then state the ask in a single sentence. Pause on "low-risk and fully reversible." Transition: "Why does this matter now?"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NOW (~1.5m). Three forces. Lead with the number — say "33% by 2028" and pause. Key line, say it aloud: "Demand for our data is already arriving through ungoverned channels — better a governed front door than an ungoverned back door." Stay credible: note that 40% of agentic projects fail, which is exactly why we are disciplined and staged. Transition: "So what's the opportunity for ONS?"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OPPORTUNITY (~1m). Frame trust as the moat: "an agent is only as good as the data it can cite — and that's us." Three dimensions: better service for our users; a reusable route for the wider public sector; our data and metadata as strategic assets. Emphasise build-once, reuse-many. Transition: "Here's how it actually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IT WORKS (~1.5m). Keep it non-technical — use the "universal adaptor" metaphor. Walk the flow left to right: agent -&gt; identity &amp; policy gate -&gt; MCP server -&gt; our existing systems. Land the bottom line: every request authenticated, authorised and logged, with human approval for sensitive actions. Reassure: it sits ON TOP of what we already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 (~1m). Pre-empt the "we already have APIs" objection right here. Message: MCP does not replace APIs — it adds the agent-facing, self-describing, governed layer. Don't read the table; highlight two rows (discovery; one governed, audited route). Transition: "Let me make it concrete."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CASES (~1m). Tell ONE story vividly: a member of the public (or an analyst) asks "what was inflation last quarter and how does it compare with a year ago?" and gets the approved figure, correctly defined and cited — never a guess. Then note cross-government reuse. Emphasise: none of this needs sensitive data to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— THE SLIDE THAT WINS THE ROOM (~1.5m). Slow down. Principles first: zero-trust, least privilege, NCSC-aligned, Five Safes. Name the new risk honestly — prompt injection — and how we design it out (narrow, allow-listed tools; human approval). Land the access rule: "who you are, your organisation, the agent, the data's sensitivity, and the approved purpose."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BENEFITS (~45s). Shift to value. Hit the measurable outcomes — ~100% of answers cited, weeks-to-days to onboard, 100% logged. Say you'll baseline these in Phase 0 and report against them. Crisp and confident;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RISKS (~1m). Credibility through honesty — don't skip this. Show you've thought it through. Take the top risk (prompt injection) and its mitigation. Reframe the 40%-of-agentic-projects-fail stat as the reason for the staged, public-data-first approach. Senior leaders trust people who name the downside.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ROADMAP (~1m). Show the staircase. Emphasise the guard-rail: we never start with sensitive data, and we don't progress until each gate is passed. Point at Phase 0 — small, a few weeks, public data. Make it feel controlled and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ASK (~1m). Land it, then STOP TALKING. State the decisions plainly, then the headline: "£200k-£350k for a public-data proof of concept — modest, reversible, stage-gated." Ask directly: "Can I have your endorsement to scope Phase 0?" Then go quiet and let them respond. Keep the precedents and cost detail ready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1463040"/>
            <a:ext cx="4023360" cy="402336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PROPOSAL  ·  EXECUTIVE COMMITTEE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 Model Context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9DC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trusted analytical data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an AI-ready provider of data and insight for the public sector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5349240"/>
            <a:ext cx="603504" cy="60350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384" y="5524256"/>
            <a:ext cx="253472" cy="253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5440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 ·   Version 1.0 (Draft for discussion)   ·   Classification: OFFICIAL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PROPOSITION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proposition, in one 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6002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38528"/>
            <a:ext cx="713232" cy="713232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517" y="2145365"/>
            <a:ext cx="299557" cy="2995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7830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secure MCP platform so that authorised AI agents can discover, access and interpret our trusted analytical data, metadata and services — in a controlled, standardised and fully auditable way.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asking the Committee to approve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" y="370332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29" y="4114617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direction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76656" y="5074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MCP as a strategic capability — deliberately and safely.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328416" y="370332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84448" y="3950208"/>
            <a:ext cx="566928" cy="566928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857" y="4114617"/>
            <a:ext cx="238110" cy="238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9584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 Phase 0 PoC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529584" y="5074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£200k–£350k for a 6–8 week proof of concept on public data.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81344" y="370332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3950208"/>
            <a:ext cx="566928" cy="566928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785" y="4114617"/>
            <a:ext cx="238110" cy="2381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2512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ownership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382512" y="5074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 an SRO and a small multidisciplinary team and governance group.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034272" y="370332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290304" y="3950208"/>
            <a:ext cx="566928" cy="566928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713" y="4114617"/>
            <a:ext cx="238110" cy="2381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3544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guard-rails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235440" y="5074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gates; no sensitive data in scope without explicit approval.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NOW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 have converged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5544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22376" y="24871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include agentic AI by 2028 — up from &lt;1% in 2024 (Gartner)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98848" y="24871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MCP servers; adopted by OpenAI, Google &amp; Microsoft since launch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28432" y="15544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57032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75320" y="24871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in the UK Government AI Playbook — a ready assurance framework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75488" y="3429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" y="3657600"/>
            <a:ext cx="548640" cy="548640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3816706"/>
            <a:ext cx="230429" cy="23042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2376" y="4315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is scaling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" y="47548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of consumption is shifting from the screen to the agent. Agents need a governed way to reach trusted data.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4251960" y="3429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98848" y="3657600"/>
            <a:ext cx="548640" cy="548640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3816706"/>
            <a:ext cx="230429" cy="23042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98848" y="4315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has settled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498848" y="47548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is now a vendor-neutral, de facto open standard — building to it is no longer a speculative bet.</a:t>
            </a:r>
            <a:endParaRPr lang="en-US" sz="1180" dirty="0"/>
          </a:p>
        </p:txBody>
      </p:sp>
      <p:sp>
        <p:nvSpPr>
          <p:cNvPr id="24" name="Shape 20"/>
          <p:cNvSpPr/>
          <p:nvPr/>
        </p:nvSpPr>
        <p:spPr>
          <a:xfrm>
            <a:off x="8028432" y="3429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75320" y="3657600"/>
            <a:ext cx="548640" cy="548640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3816706"/>
            <a:ext cx="230429" cy="23042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75320" y="4315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waiting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275320" y="47548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arrives anyway — via ungoverned chatbots with no provenance. Better a governed front door than an ungoverned back door.</a:t>
            </a:r>
            <a:endParaRPr lang="en-US" sz="118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OPPORTUNITY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advantage in an AI world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only as good as the data it can cite. That is a structural advantage for the authoritative source — and MCP turns that standing into a modern distribution channel.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" y="21945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0592"/>
            <a:ext cx="603504" cy="60350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36" y="2625608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services for our customers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8862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Conversational, real-time access to approved figures — with the right definitions and an authoritative citation on every answer.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21945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450592"/>
            <a:ext cx="603504" cy="60350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08" y="2625608"/>
            <a:ext cx="253472" cy="25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7992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route for government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07992" y="38862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interface that departments, public bodies and approved partners connect to once and reuse many times.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28432" y="21945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450592"/>
            <a:ext cx="603504" cy="60350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480" y="2625608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metadata as strategic assets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84464" y="38862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AI-ready — clear definitions, provenance, quality, versioning — strengthens our core product for every user.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5488" y="513892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5321808"/>
            <a:ext cx="566928" cy="566928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369" y="5486217"/>
            <a:ext cx="238110" cy="2381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138928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advantage:  </a:t>
            </a:r>
            <a:pPr indent="0" marL="0">
              <a:buNone/>
            </a:pPr>
            <a:r>
              <a:rPr lang="en-US" sz="13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reference implementation lets us shape the cross-government standard rather than inherit it.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MCP PLATFORM WOULD WORK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universal, secure adaptor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custom connection per consumer, agents connect through one standard, policy-enforced interface that calls our existing approved services.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2459736"/>
            <a:ext cx="603504" cy="60350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208" y="2634752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154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63016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client)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90672" y="2697480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493008" y="22402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62272" y="2459736"/>
            <a:ext cx="603504" cy="603504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288" y="2634752"/>
            <a:ext cx="253472" cy="253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3154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policy gateway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84448" y="363016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· authZ · purpose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016752" y="2697480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419088" y="22402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88352" y="2459736"/>
            <a:ext cx="603504" cy="60350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368" y="2634752"/>
            <a:ext cx="253472" cy="253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0528" y="3154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server(s)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510528" y="363016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tools &amp; resources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942832" y="2697480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345168" y="22402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0314432" y="2459736"/>
            <a:ext cx="603504" cy="60350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448" y="2634752"/>
            <a:ext cx="253472" cy="253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36608" y="3154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APIs, catalogue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 platform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436608" y="363016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reused, not replaced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66928" y="4224528"/>
            <a:ext cx="10917936" cy="566928"/>
          </a:xfrm>
          <a:prstGeom prst="roundRect">
            <a:avLst>
              <a:gd name="adj" fmla="val 12903"/>
            </a:avLst>
          </a:prstGeom>
          <a:solidFill>
            <a:srgbClr val="D7E3F1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77240" y="42245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  </a:t>
            </a:r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request, tool call and response is authenticated, authorised, logged — with human approval for sensitive actions.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66928" y="4983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server exposes: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66928" y="5321808"/>
            <a:ext cx="20665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3232" y="5458968"/>
            <a:ext cx="457200" cy="45720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5591556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43584" y="53218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2779776" y="5321808"/>
            <a:ext cx="20665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2926080" y="5458968"/>
            <a:ext cx="457200" cy="45720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8668" y="5591556"/>
            <a:ext cx="192024" cy="1920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456432" y="53218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data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992624" y="5321808"/>
            <a:ext cx="20665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5138928" y="5458968"/>
            <a:ext cx="457200" cy="45720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516" y="5591556"/>
            <a:ext cx="192024" cy="19202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669280" y="53218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citation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205472" y="5321808"/>
            <a:ext cx="20665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7351776" y="5458968"/>
            <a:ext cx="457200" cy="45720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364" y="5591556"/>
            <a:ext cx="192024" cy="19202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882128" y="53218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(in policy)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9418320" y="5321808"/>
            <a:ext cx="20665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9564624" y="5458968"/>
            <a:ext cx="457200" cy="45720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7212" y="5591556"/>
            <a:ext cx="192024" cy="192024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0094976" y="53218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services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COMPARES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versus today’s approaches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60020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· portals · manual requests · bespoke builds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must know in advance what exists and where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bespoke integration per consumer — effort duplicated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travels separately — misinterpretation risk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All-or-nothing access; slow manual adjudication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logging; requests buried in email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weeks to an answer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5626" y="1987906"/>
            <a:ext cx="230429" cy="23042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866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SECURE MCP PLATFORM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92240" y="256032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discover data, tools &amp; definitions at the moment of asking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 interface — connect once, reuse across government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Definitions, provenance &amp; quality returned with every figure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Fine-grained, identity- &amp; purpose-aware access; default deny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logged to one consistent standard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to minutes for approved questions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5488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existing APIs and platforms — it does not replace them.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CROSS-GOVERNMENT USE CASES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Value, through concrete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627632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0240"/>
            <a:ext cx="603504" cy="60350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24" y="2095256"/>
            <a:ext cx="253472" cy="253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901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Citizen-facing assistant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54203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was inflation last quarter vs a year ago?” — returns the approved figure, definition and an authoritative citation. Never a guessed number.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27632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20240"/>
            <a:ext cx="603504" cy="60350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256" y="2095256"/>
            <a:ext cx="253472" cy="253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901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in other departments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28816" y="254203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assembles an approved cross-government evidence pack in minutes — only data the analyst is cleared to see, provenance attached.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" y="384048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4133088"/>
            <a:ext cx="603504" cy="60350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24" y="4308104"/>
            <a:ext cx="253472" cy="253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government &amp; public bodies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6384" y="4754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Councils reuse standard indicators for planning through the same governed interface — no bespoke integration each time.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384048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133088"/>
            <a:ext cx="603504" cy="60350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256" y="4308104"/>
            <a:ext cx="253472" cy="253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partners &amp; researchers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28816" y="4754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purpose-bound, fully audited channel that complements the secure research environment and preserves the Five Safes.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5488" y="616305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every case: approved data, correct metadata, insight within policy, authoritative citation. None requires sensitive data to start delivering value.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GOVERNANCE &amp; RESPONSIBLE AI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governable by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· least privilege ·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NCSC secure-AI guidelines, the AI Playbook, UK GDPR, Government Security Classifications &amp; the Five Safes.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" y="1993392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194560"/>
            <a:ext cx="512064" cy="51206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443" y="2343059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21762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authN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2706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user, org &amp; agent known; OAuth 2.0 / OIDC; short-lived tokens.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1993392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1416" y="2194560"/>
            <a:ext cx="512064" cy="51206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915" y="2343059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21762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89704" y="2706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Default-deny by identity, org, agent, classification &amp; purpose.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28432" y="1993392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47888" y="2194560"/>
            <a:ext cx="512064" cy="51206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387" y="2343059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97112" y="21762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minimisation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6176" y="2706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aggregates only; disclosure control; no raw microdata.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" y="3456432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4944" y="3657600"/>
            <a:ext cx="512064" cy="51206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43" y="3806099"/>
            <a:ext cx="215067" cy="215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44168" y="3639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monitoring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13232" y="4169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logs of every call; anomaly detection &amp; alerting.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51960" y="3456432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71416" y="3657600"/>
            <a:ext cx="512064" cy="51206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915" y="3806099"/>
            <a:ext cx="215067" cy="215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0640" y="3639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489704" y="4169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sign-off for sensitive or high-impact actions.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028432" y="3456432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47888" y="3657600"/>
            <a:ext cx="512064" cy="512064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387" y="3806099"/>
            <a:ext cx="215067" cy="21506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97112" y="3639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defence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266176" y="4169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input, narrow allow-listed tools, sandboxing, red-teaming.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75488" y="50292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4233A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248656"/>
            <a:ext cx="603504" cy="603504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976" y="5423672"/>
            <a:ext cx="253472" cy="253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60020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defining new risk — prompt injection (OWASP LLM #1) &amp; excessive agency.  </a:t>
            </a:r>
            <a:pPr indent="0" marL="0">
              <a:buNone/>
            </a:pPr>
            <a:r>
              <a:rPr lang="en-US" sz="12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design it out: all agent input is untrusted, tools are narrow and allow-listed, and nothing acts beyond scope without a human.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MEASURABLE OUTCOMES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 to measurable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6916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38528"/>
            <a:ext cx="512064" cy="512064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731" y="2087027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→ Days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94944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28416" y="16916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938528"/>
            <a:ext cx="512064" cy="51206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59" y="2087027"/>
            <a:ext cx="215067" cy="215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3547872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approved question to cited answer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16916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1938528"/>
            <a:ext cx="512064" cy="512064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587" y="2087027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~100%</a:t>
            </a:r>
            <a:endParaRPr lang="en-US" sz="2500" dirty="0"/>
          </a:p>
        </p:txBody>
      </p:sp>
      <p:sp>
        <p:nvSpPr>
          <p:cNvPr id="19" name="Text 14"/>
          <p:cNvSpPr/>
          <p:nvPr/>
        </p:nvSpPr>
        <p:spPr>
          <a:xfrm>
            <a:off x="6400800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answers carry an authoritative citation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34272" y="16916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1938528"/>
            <a:ext cx="512064" cy="512064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515" y="2087027"/>
            <a:ext cx="215067" cy="215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500" dirty="0"/>
          </a:p>
        </p:txBody>
      </p:sp>
      <p:sp>
        <p:nvSpPr>
          <p:cNvPr id="24" name="Text 18"/>
          <p:cNvSpPr/>
          <p:nvPr/>
        </p:nvSpPr>
        <p:spPr>
          <a:xfrm>
            <a:off x="9253728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agent interactions fully logged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75488" y="422452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77240" y="44074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reported on: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68680" y="4800600"/>
            <a:ext cx="365760" cy="36576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" y="4906670"/>
            <a:ext cx="153619" cy="15361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7160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reuse — departments, partners &amp; agents on the platform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355080" y="4800600"/>
            <a:ext cx="365760" cy="36576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50" y="4906670"/>
            <a:ext cx="153619" cy="1536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duplication — bespoke integrations retired or avoided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68680" y="5367528"/>
            <a:ext cx="365760" cy="36576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50" y="5473598"/>
            <a:ext cx="153619" cy="153619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371600" y="5321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auditability — access audits in minutes, not days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355080" y="5367528"/>
            <a:ext cx="365760" cy="365760"/>
          </a:xfrm>
          <a:prstGeom prst="ellipse">
            <a:avLst/>
          </a:prstGeom>
          <a:solidFill>
            <a:srgbClr val="4E7CB5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150" y="5473598"/>
            <a:ext cx="153619" cy="153619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58000" y="5321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experience — task completion on agent-assisted services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777240" y="57424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and final targets set in Phase 0 / Phase 1; figures indicative.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risks, designed-in mitigations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627632"/>
            <a:ext cx="11247120" cy="676656"/>
          </a:xfrm>
          <a:prstGeom prst="roundRect">
            <a:avLst>
              <a:gd name="adj" fmla="val 10811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62763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/ exfiltration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80136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B5532E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8013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62763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 · narrow allow-listed tools · output DLP · red-teaming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75488" y="2377440"/>
            <a:ext cx="112471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37744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Over-permissioned agents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55117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B553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5511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Med–High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37744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· default-deny · no open-ended or irreversible actions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75488" y="3127248"/>
            <a:ext cx="11247120" cy="676656"/>
          </a:xfrm>
          <a:prstGeom prst="roundRect">
            <a:avLst>
              <a:gd name="adj" fmla="val 10811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127248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Misinterpretation / misinformation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330098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2E5A88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3009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312724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citation by default · disclosure control · approved functions only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475488" y="3877056"/>
            <a:ext cx="112471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877056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/ credential compromise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40507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B5532E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40507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Med–High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8770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authN · short-lived credentials · monitoring · rapid revocation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75488" y="4626864"/>
            <a:ext cx="11247120" cy="676656"/>
          </a:xfrm>
          <a:prstGeom prst="roundRect">
            <a:avLst>
              <a:gd name="adj" fmla="val 10811"/>
            </a:avLst>
          </a:prstGeom>
          <a:solidFill>
            <a:srgbClr val="E8EFF7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" y="4626864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over-reach or cost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34840" y="480060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2E5A88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48006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4626864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gates · start on public data · clear value metrics &amp; stop/continue criteria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475488" y="5376672"/>
            <a:ext cx="112471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" y="537667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Public-facing error (reputation)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34840" y="555040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B5532E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55504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Med–High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537667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internal &amp; low-risk · human-in-the-loop · phased exposure · visible citations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475488" y="61996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expects 40%+ of agentic projects to fail by 2027 — which is exactly why we proceed stage-gated, on public data first.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7680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Incremental, gated and reversible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737360"/>
            <a:ext cx="2670048" cy="4023360"/>
          </a:xfrm>
          <a:prstGeom prst="roundRect">
            <a:avLst>
              <a:gd name="adj" fmla="val 2740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938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" y="22494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weeks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3346704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server, public data only, internal users. Show discovery, query, citation &amp; logging.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5029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feasibility + security 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28416" y="1737360"/>
            <a:ext cx="2670048" cy="4023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1938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7872" y="22494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47872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3346704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identity, authZ gateway &amp; audit; governance; 1–2 use cases on low-sensitivity data.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47872" y="5029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assurance + IG/ethics +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2670048" cy="4023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938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2494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expansion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346704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partner departments; purpose-bound access to more (still aggregated) data; reusable tools.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029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independent security assessment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34272" y="1737360"/>
            <a:ext cx="2670048" cy="4023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53728" y="1938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53728" y="22494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53728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embed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53728" y="3346704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 standard channel alongside APIs; broader onboarding; shared cross-gov standards.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53728" y="5029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assurance &amp; service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rule: never begin with sensitive data; do not progress until the current gate is passed.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362895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250" b="1" spc="200" kern="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DECISION &amp; NEXT STEPS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first deliberate step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512064" cy="51206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— </a:t>
            </a:r>
            <a:pPr indent="0" marL="0">
              <a:buNone/>
            </a:pPr>
            <a:r>
              <a:rPr lang="en-US" sz="13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as a strategic capability and the phased, stage-gated approach.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61488"/>
            <a:ext cx="512064" cy="51206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71576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Phase 0 — </a:t>
            </a:r>
            <a:pPr indent="0" marL="0">
              <a:buNone/>
            </a:pPr>
            <a:r>
              <a:rPr lang="en-US" sz="13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£200k–£350k for a 6–8 week PoC on public data + Phase 1 design.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512064" cy="51206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602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55701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 — </a:t>
            </a:r>
            <a:pPr indent="0" marL="0">
              <a:buNone/>
            </a:pPr>
            <a:r>
              <a:rPr lang="en-US" sz="13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SRO and convene the governance group (security, IG, ethics, data, architecture).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443984"/>
            <a:ext cx="512064" cy="51206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39826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Guard-rail — </a:t>
            </a:r>
            <a:pPr indent="0" marL="0">
              <a:buNone/>
            </a:pPr>
            <a:r>
              <a:rPr lang="en-US" sz="135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in scope without explicit Committee approval at the gate.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18120" y="187452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1F3A5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2148840"/>
            <a:ext cx="640080" cy="640080"/>
          </a:xfrm>
          <a:prstGeom prst="ellipse">
            <a:avLst/>
          </a:prstGeom>
          <a:solidFill>
            <a:srgbClr val="C49A3F"/>
          </a:solidFill>
          <a:ln/>
          <a:effectLst>
            <a:outerShdw sx="100000" sy="100000" kx="0" ky="0" algn="bl" rotWithShape="0" blurRad="114300" dist="38100" dir="5400000">
              <a:srgbClr val="0B1626">
                <a:alpha val="1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8063" y="2334463"/>
            <a:ext cx="268834" cy="26883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86968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0924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9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£200k–£350k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8092440" y="36576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PoC (public data) + Phase 1 design. Modest, reversible, stage-gated.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092440" y="4526280"/>
            <a:ext cx="3291840" cy="0"/>
          </a:xfrm>
          <a:prstGeom prst="line">
            <a:avLst/>
          </a:prstGeom>
          <a:noFill/>
          <a:ln w="12700">
            <a:solidFill>
              <a:srgbClr val="3348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9244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92440" y="491947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team · scope PoC on public data · security/IG/ethics review · build, evaluate, return with Phase 1 case.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59436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emerging technology safely — and become the public sector’s leading provider of AI-ready analytical data.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900" dirty="0">
                <a:solidFill>
                  <a:srgbClr val="6E8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Secure MCP Platform for Trusted Analytical Data</dc:title>
  <dc:subject>PptxGenJS Presentation</dc:subject>
  <dc:creator>Strategy &amp; Data Office</dc:creator>
  <cp:lastModifiedBy>Strategy &amp; Data Office</cp:lastModifiedBy>
  <cp:revision>1</cp:revision>
  <dcterms:created xsi:type="dcterms:W3CDTF">2026-06-23T19:21:19Z</dcterms:created>
  <dcterms:modified xsi:type="dcterms:W3CDTF">2026-06-23T19:21:19Z</dcterms:modified>
</cp:coreProperties>
</file>