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E7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772400" y="640080"/>
            <a:ext cx="4069080" cy="5577840"/>
          </a:xfrm>
          <a:prstGeom prst="roundRect">
            <a:avLst>
              <a:gd name="adj" fmla="val 4045"/>
            </a:avLst>
          </a:prstGeom>
          <a:solidFill>
            <a:srgbClr val="E6F3F2"/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1828800"/>
            <a:ext cx="2148840" cy="214884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88" y="2487168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42976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Model-agnostic · auditable · reusable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· EXECUTIVE COMMITTEE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4944" y="20574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MCP Platform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94944" y="27889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Trusted Analytical Data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31520" y="37033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the public sector’s AI-ready source of data and insight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5486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  ·   Strategic proposal for ONS   ·   OFFICIAL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E7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1200" b="1" spc="200" kern="0" dirty="0">
                <a:solidFill>
                  <a:srgbClr val="0E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from screens to agents is 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64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generation of AI agents expects to reach trusted data directly, machine to machine. Demand for ONS data is already arriving through ungoverned channels.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3383280"/>
            <a:ext cx="384048" cy="38404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302" y="3494654"/>
            <a:ext cx="161300" cy="161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34670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4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standard, adopted by every major AI provider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4059936"/>
            <a:ext cx="384048" cy="38404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02" y="4171310"/>
            <a:ext cx="161300" cy="161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4023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4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Model-agnostic — no LLM lock-in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66928" y="4736592"/>
            <a:ext cx="384048" cy="38404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02" y="4847966"/>
            <a:ext cx="161300" cy="161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70001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4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guidance already recommends MCP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315200" y="1783080"/>
            <a:ext cx="4325112" cy="3566160"/>
          </a:xfrm>
          <a:prstGeom prst="roundRect">
            <a:avLst>
              <a:gd name="adj" fmla="val 2564"/>
            </a:avLst>
          </a:prstGeom>
          <a:solidFill>
            <a:srgbClr val="E6F3F2"/>
          </a:solidFill>
          <a:ln w="12700">
            <a:solidFill>
              <a:srgbClr val="C7E4E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635240" y="2103120"/>
            <a:ext cx="603504" cy="603504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256" y="2278136"/>
            <a:ext cx="253472" cy="253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89520" y="2788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≈33%</a:t>
            </a:r>
            <a:endParaRPr lang="en-US" sz="6000" dirty="0"/>
          </a:p>
        </p:txBody>
      </p:sp>
      <p:sp>
        <p:nvSpPr>
          <p:cNvPr id="19" name="Text 13"/>
          <p:cNvSpPr/>
          <p:nvPr/>
        </p:nvSpPr>
        <p:spPr>
          <a:xfrm>
            <a:off x="7653528" y="379476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64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enterprise software will embed agentic AI by 2028 — up from &lt;1% in 2024 (Gartner)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 governed front door than an ungoverned back door.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E7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1200" b="1" spc="200" kern="0" dirty="0">
                <a:solidFill>
                  <a:srgbClr val="0E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IN GOVERNMENT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proven in government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E4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369" y="2221809"/>
            <a:ext cx="238110" cy="238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57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 for Business &amp; Trade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27889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264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its AI assistant to live CRM data via an MCP server on existing GOV.UK sign-on — answers cited to source.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E4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73952" y="2057400"/>
            <a:ext cx="566928" cy="56692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361" y="2221809"/>
            <a:ext cx="238110" cy="238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5472" y="2057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National Statistics Office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92240" y="27889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264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a public MCP server over its official statistics (~22 datasets) for AI tools — a direct peer precedent.</a:t>
            </a:r>
            <a:endParaRPr lang="en-US" sz="1280" dirty="0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E6F3F2"/>
          </a:solidFill>
          <a:ln w="12700">
            <a:solidFill>
              <a:srgbClr val="C7E4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6384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804672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4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carry an authoritative citation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315968" y="42976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E6F3F2"/>
          </a:solidFill>
          <a:ln w="12700">
            <a:solidFill>
              <a:srgbClr val="C7E4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53712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→ days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4572000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4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onboard a new data consumer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83296" y="42976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E6F3F2"/>
          </a:solidFill>
          <a:ln w="12700">
            <a:solidFill>
              <a:srgbClr val="C7E4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21040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8339328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4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departments and agents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guidance already recommends MCP as the access layer for AI — ONS can follow a proven path and lead in UK official statistics.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3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1200" b="1" spc="200" kern="0" dirty="0">
                <a:solidFill>
                  <a:srgbClr val="AE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9601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Green-light a low-risk proof of concept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420624" cy="420624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909" y="2910901"/>
            <a:ext cx="176662" cy="176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7432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 first — no new data risk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3502152"/>
            <a:ext cx="420624" cy="420624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09" y="3624133"/>
            <a:ext cx="176662" cy="1766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345643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weeks, not months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6928" y="4215384"/>
            <a:ext cx="420624" cy="420624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9" y="4337365"/>
            <a:ext cx="176662" cy="176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3856" y="4169664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information-governance review built in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66928" y="4928616"/>
            <a:ext cx="420624" cy="420624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09" y="5050597"/>
            <a:ext cx="176662" cy="1766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33856" y="488289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sensitive data without explicit approval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66928" y="5897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3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I have 20 minutes to walk you through it?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726680" y="1371600"/>
            <a:ext cx="3977640" cy="4297680"/>
          </a:xfrm>
          <a:prstGeom prst="roundRect">
            <a:avLst>
              <a:gd name="adj" fmla="val 1379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0E8A8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028432" y="169164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055" y="1877263"/>
            <a:ext cx="268834" cy="2688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796528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8028432" y="2514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£200k–£350k</a:t>
            </a:r>
            <a:endParaRPr lang="en-US" sz="3800" dirty="0"/>
          </a:p>
        </p:txBody>
      </p:sp>
      <p:sp>
        <p:nvSpPr>
          <p:cNvPr id="23" name="Text 16"/>
          <p:cNvSpPr/>
          <p:nvPr/>
        </p:nvSpPr>
        <p:spPr>
          <a:xfrm>
            <a:off x="8028432" y="33375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public-data proof of concept, plus Phase 1 design. Modest, reversible, stage-gated.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028432" y="4370832"/>
            <a:ext cx="3246120" cy="0"/>
          </a:xfrm>
          <a:prstGeom prst="line">
            <a:avLst/>
          </a:prstGeom>
          <a:noFill/>
          <a:ln w="12700">
            <a:solidFill>
              <a:srgbClr val="44566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028432" y="449884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AE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· appoint an SRO · agree the stage gates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pitch — 3 — Teal Trust</dc:title>
  <dc:subject>PptxGenJS Presentation</dc:subject>
  <dc:creator>PptxGenJS</dc:creator>
  <cp:lastModifiedBy>PptxGenJS</cp:lastModifiedBy>
  <cp:revision>1</cp:revision>
  <dcterms:created xsi:type="dcterms:W3CDTF">2026-06-26T14:21:26Z</dcterms:created>
  <dcterms:modified xsi:type="dcterms:W3CDTF">2026-06-26T14:21:26Z</dcterms:modified>
</cp:coreProperties>
</file>