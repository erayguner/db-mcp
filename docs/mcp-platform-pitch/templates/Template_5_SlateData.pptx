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67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 ·  EXECUTIVE COMMITTEE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0352" y="17830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MCP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trusted analytical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5852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 ·   Strategic proposal for ONS   ·   OFFICIAL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1371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≈33%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611112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software by 2028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514600"/>
            <a:ext cx="4754880" cy="0"/>
          </a:xfrm>
          <a:prstGeom prst="line">
            <a:avLst/>
          </a:prstGeom>
          <a:noFill/>
          <a:ln w="12700">
            <a:solidFill>
              <a:srgbClr val="DB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88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611112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MCP servers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931920"/>
            <a:ext cx="4754880" cy="0"/>
          </a:xfrm>
          <a:prstGeom prst="line">
            <a:avLst/>
          </a:prstGeom>
          <a:noFill/>
          <a:ln w="12700">
            <a:solidFill>
              <a:srgbClr val="DB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206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611112" y="4864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cited to source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67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from screens to agents is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generation of AI agents expects to reach trusted data directly, machine to machine. Demand for ONS data is already arriving through ungoverned channels.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383280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2" y="3494654"/>
            <a:ext cx="161300" cy="161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3467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standard, adopted by every major AI provider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059936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2" y="4171310"/>
            <a:ext cx="161300" cy="16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— no LLM lock-in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4736592"/>
            <a:ext cx="384048" cy="38404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2" y="4847966"/>
            <a:ext cx="161300" cy="161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001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0" y="1783080"/>
            <a:ext cx="4325112" cy="3566160"/>
          </a:xfrm>
          <a:prstGeom prst="rect">
            <a:avLst/>
          </a:prstGeom>
          <a:solidFill>
            <a:srgbClr val="EAEFF5"/>
          </a:solidFill>
          <a:ln w="12700">
            <a:solidFill>
              <a:srgbClr val="DBE2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35240" y="2103120"/>
            <a:ext cx="603504" cy="603504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56" y="2278136"/>
            <a:ext cx="253472" cy="253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≈33%</a:t>
            </a:r>
            <a:endParaRPr lang="en-US" sz="6000" dirty="0"/>
          </a:p>
        </p:txBody>
      </p:sp>
      <p:sp>
        <p:nvSpPr>
          <p:cNvPr id="19" name="Text 13"/>
          <p:cNvSpPr/>
          <p:nvPr/>
        </p:nvSpPr>
        <p:spPr>
          <a:xfrm>
            <a:off x="7653528" y="37947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software will embed agentic AI by 2028 — up from &lt;1% in 2024 (Gartner)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 governed front door than an ungoverned back door.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670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 GOVERNMENT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 in government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369" y="2221809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for Business &amp; Trade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its AI assistant to live CRM data via an MCP server on existing GOV.UK sign-on — answers cited to source.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73952" y="2057400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61" y="2221809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National Statistics Office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a public MCP server over its official statistics (~22 datasets) for AI tools — a direct peer precedent.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3566160" cy="1600200"/>
          </a:xfrm>
          <a:prstGeom prst="rect">
            <a:avLst/>
          </a:prstGeom>
          <a:solidFill>
            <a:srgbClr val="EAEFF5"/>
          </a:solidFill>
          <a:ln w="12700">
            <a:solidFill>
              <a:srgbClr val="DBE2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6384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804672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carry an authoritative citation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15968" y="4297680"/>
            <a:ext cx="3566160" cy="1600200"/>
          </a:xfrm>
          <a:prstGeom prst="rect">
            <a:avLst/>
          </a:prstGeom>
          <a:solidFill>
            <a:srgbClr val="EAEFF5"/>
          </a:solidFill>
          <a:ln w="12700">
            <a:solidFill>
              <a:srgbClr val="DBE2E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53712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→ days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4572000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onboard a new data consumer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83296" y="4297680"/>
            <a:ext cx="3566160" cy="1600200"/>
          </a:xfrm>
          <a:prstGeom prst="rect">
            <a:avLst/>
          </a:prstGeom>
          <a:solidFill>
            <a:srgbClr val="EAEFF5"/>
          </a:solidFill>
          <a:ln w="12700">
            <a:solidFill>
              <a:srgbClr val="DBE2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1040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8339328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5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departments and agents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 as the access layer for AI — ONS can follow a proven path and lead in UK official statistics.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200" b="1" spc="200" kern="0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a low-risk proof of concept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09" y="291090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7432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first — no new data risk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3502152"/>
            <a:ext cx="420624" cy="420624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3624133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34564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weeks, not months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4215384"/>
            <a:ext cx="420624" cy="420624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4337365"/>
            <a:ext cx="176662" cy="176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416966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information-governance review built in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66928" y="4928616"/>
            <a:ext cx="420624" cy="420624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" y="5050597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33856" y="48828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without explicit approval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66928" y="5897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B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have 20 minutes to walk you through it?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726680" y="1371600"/>
            <a:ext cx="3977640" cy="4297680"/>
          </a:xfrm>
          <a:prstGeom prst="roundRect">
            <a:avLst>
              <a:gd name="adj" fmla="val 1379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28432" y="1691640"/>
            <a:ext cx="640080" cy="64008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055" y="1877263"/>
            <a:ext cx="268834" cy="2688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96528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8028432" y="2514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£200k–£350k</a:t>
            </a:r>
            <a:endParaRPr lang="en-US" sz="3800" dirty="0"/>
          </a:p>
        </p:txBody>
      </p:sp>
      <p:sp>
        <p:nvSpPr>
          <p:cNvPr id="23" name="Text 16"/>
          <p:cNvSpPr/>
          <p:nvPr/>
        </p:nvSpPr>
        <p:spPr>
          <a:xfrm>
            <a:off x="8028432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public-data proof of concept, plus Phase 1 design. Modest, reversible, stage-gated.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28432" y="4370832"/>
            <a:ext cx="3246120" cy="0"/>
          </a:xfrm>
          <a:prstGeom prst="line">
            <a:avLst/>
          </a:prstGeom>
          <a:noFill/>
          <a:ln w="12700">
            <a:solidFill>
              <a:srgbClr val="44566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28432" y="44988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· appoint an SRO · agree the stage gates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pitch — 5 — Slate Data</dc:title>
  <dc:subject>PptxGenJS Presentation</dc:subject>
  <dc:creator>PptxGenJS</dc:creator>
  <cp:lastModifiedBy>PptxGenJS</cp:lastModifiedBy>
  <cp:revision>1</cp:revision>
  <dcterms:created xsi:type="dcterms:W3CDTF">2026-06-26T14:21:26Z</dcterms:created>
  <dcterms:modified xsi:type="dcterms:W3CDTF">2026-06-26T14:21:26Z</dcterms:modified>
</cp:coreProperties>
</file>